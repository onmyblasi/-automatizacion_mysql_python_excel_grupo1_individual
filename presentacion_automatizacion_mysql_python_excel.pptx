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66" r:id="rId5"/>
    <p:sldId id="257" r:id="rId6"/>
    <p:sldId id="267" r:id="rId7"/>
    <p:sldId id="268" r:id="rId8"/>
    <p:sldId id="269" r:id="rId9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FF870C-5D9B-4878-9827-A3D8F8D3B4C3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 rtlCol="0"/>
        <a:lstStyle/>
        <a:p>
          <a:pPr rtl="0"/>
          <a:endParaRPr lang="en-US"/>
        </a:p>
      </dgm:t>
    </dgm:pt>
    <dgm:pt modelId="{D2FA40C6-C0ED-46A3-92CE-B081053B2BA8}" type="pres">
      <dgm:prSet presAssocID="{34FF870C-5D9B-4878-9827-A3D8F8D3B4C3}" presName="root" presStyleCnt="0">
        <dgm:presLayoutVars>
          <dgm:dir/>
          <dgm:resizeHandles val="exact"/>
        </dgm:presLayoutVars>
      </dgm:prSet>
      <dgm:spPr/>
    </dgm:pt>
  </dgm:ptLst>
  <dgm:cxnLst>
    <dgm:cxn modelId="{B126511F-11FF-4EDD-85D7-D89737033340}" type="presOf" srcId="{34FF870C-5D9B-4878-9827-A3D8F8D3B4C3}" destId="{D2FA40C6-C0ED-46A3-92CE-B081053B2BA8}" srcOrd="0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o de lista de etiquetas de hojas"/>
  <dgm:desc val="Se usa para mostrar fragmentos no secuenciales o agrupados de información acompañados de elementos visuales relacionados. Funciona mejor con iconos o imágenes pequeñas con leyendas de texto breve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8148F02-35C7-49E6-993F-E82908D7AF75}" type="datetime1">
              <a:rPr lang="es-ES" smtClean="0"/>
              <a:t>12/05/2026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4C531EA-3B14-40B9-94EF-FFD37E10845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319077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AAB062-198E-4F51-A2F6-E1757EE113E0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733D7A2-C585-48BF-BF8C-C21FDC051F7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726620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noProof="1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733D7A2-C585-48BF-BF8C-C21FDC051F77}" type="slidenum">
              <a:rPr lang="es-ES" noProof="1" dirty="0" smtClean="0"/>
              <a:t>1</a:t>
            </a:fld>
            <a:endParaRPr lang="es-ES" noProof="1"/>
          </a:p>
        </p:txBody>
      </p:sp>
    </p:spTree>
    <p:extLst>
      <p:ext uri="{BB962C8B-B14F-4D97-AF65-F5344CB8AC3E}">
        <p14:creationId xmlns:p14="http://schemas.microsoft.com/office/powerpoint/2010/main" val="4013332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noProof="1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733D7A2-C585-48BF-BF8C-C21FDC051F77}" type="slidenum">
              <a:rPr lang="es-ES" noProof="1" dirty="0" smtClean="0"/>
              <a:t>2</a:t>
            </a:fld>
            <a:endParaRPr lang="es-ES" noProof="1"/>
          </a:p>
        </p:txBody>
      </p:sp>
    </p:spTree>
    <p:extLst>
      <p:ext uri="{BB962C8B-B14F-4D97-AF65-F5344CB8AC3E}">
        <p14:creationId xmlns:p14="http://schemas.microsoft.com/office/powerpoint/2010/main" val="1939245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rtlCol="0"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es-ES" noProof="1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 rtlCol="0"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1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498F6463-E3E5-495A-9247-FB13D216B2BB}" type="datetime1">
              <a:rPr lang="es-ES" noProof="1" smtClean="0"/>
              <a:t>12/05/2026</a:t>
            </a:fld>
            <a:endParaRPr lang="es-ES" noProof="1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 rtlCol="0"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es-ES" noProof="1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es-ES" noProof="1" dirty="0" smtClean="0"/>
              <a:pPr rtl="0"/>
              <a:t>‹Nº›</a:t>
            </a:fld>
            <a:endParaRPr lang="es-ES" noProof="1"/>
          </a:p>
        </p:txBody>
      </p:sp>
      <p:grpSp>
        <p:nvGrpSpPr>
          <p:cNvPr id="7" name="Grupo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orma libre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Forma libre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6E64886-2519-4079-84AC-2CC2F797F4E0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rtlCol="0"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 rtlCol="0"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33F794C-6882-41AC-82BF-60BB9E6F3BCD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 rtlCol="0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7" name="Forma libre 6" title="Marca de recorte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E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585378-E0B5-4F68-82D2-43529871C830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rtlCol="0"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osición de texto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rtlCol="0"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EBEEF58-48C9-467B-A631-1E436BEDAB11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060F666-88B8-4DF3-9956-D08FAF884D2A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1315F2-01CA-4762-8977-05CA9889EEFD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 title="Forma de fondo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rtlCol="0"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 rtlCol="0"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8C31800-ABDF-4500-B590-0F98C33628D8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 title="Barra de división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 title="Forma de fondo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rtlCol="0"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rtlCol="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723900" y="2855968"/>
            <a:ext cx="3855720" cy="3011432"/>
          </a:xfrm>
        </p:spPr>
        <p:txBody>
          <a:bodyPr rtlCol="0"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0C785D8-623B-4B06-B6D3-7A2D6A2C5207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 title="Barra de división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9C1930-778F-4458-8924-EEC59DD2356C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6C51A39-469D-45D6-9466-8F867D5AA5F3}" type="datetime1">
              <a:rPr lang="es-ES" noProof="0" smtClean="0"/>
              <a:t>12/05/2026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es-ES" noProof="0" smtClean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es-ES" noProof="1"/>
              <a:t>Haga clic para modificar el estilo de título del patrón</a:t>
            </a:r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1"/>
              <a:t>Haga clic para modificar los estilos de texto del patrón</a:t>
            </a:r>
          </a:p>
          <a:p>
            <a:pPr lvl="1" rtl="0"/>
            <a:r>
              <a:rPr lang="es-ES" noProof="1"/>
              <a:t>Segundo nivel</a:t>
            </a:r>
          </a:p>
          <a:p>
            <a:pPr lvl="2" rtl="0"/>
            <a:r>
              <a:rPr lang="es-ES" noProof="1"/>
              <a:t>Tercer nivel</a:t>
            </a:r>
          </a:p>
          <a:p>
            <a:pPr lvl="3" rtl="0"/>
            <a:r>
              <a:rPr lang="es-ES" noProof="1"/>
              <a:t>Cuarto nivel</a:t>
            </a:r>
          </a:p>
          <a:p>
            <a:pPr lvl="4" rtl="0"/>
            <a:r>
              <a:rPr lang="es-ES" noProof="1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32753D48-8572-4784-98D4-3FA29A2341E7}" type="datetime1">
              <a:rPr lang="es-ES" noProof="1" smtClean="0"/>
              <a:t>12/05/2026</a:t>
            </a:fld>
            <a:endParaRPr lang="es-ES" noProof="1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es-ES" noProof="1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es-ES" noProof="1" dirty="0" smtClean="0"/>
              <a:pPr rtl="0"/>
              <a:t>‹Nº›</a:t>
            </a:fld>
            <a:endParaRPr lang="es-ES" noProof="1"/>
          </a:p>
        </p:txBody>
      </p:sp>
      <p:sp>
        <p:nvSpPr>
          <p:cNvPr id="9" name="Rectángulo 8" title="Barra lateral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ángulo 47">
            <a:extLst>
              <a:ext uri="{FF2B5EF4-FFF2-40B4-BE49-F238E27FC236}">
                <a16:creationId xmlns:a16="http://schemas.microsoft.com/office/drawing/2014/main" id="{56C94072-1B34-48FB-9A9C-5A9A0FFC8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1"/>
          </a:p>
        </p:txBody>
      </p:sp>
      <p:pic>
        <p:nvPicPr>
          <p:cNvPr id="23" name="Imagen 22" descr="Primer plano muy cercano de un gráfico de líneas">
            <a:extLst>
              <a:ext uri="{FF2B5EF4-FFF2-40B4-BE49-F238E27FC236}">
                <a16:creationId xmlns:a16="http://schemas.microsoft.com/office/drawing/2014/main" id="{B38A25AE-7B44-4EC1-BC0C-CF0FFF0367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00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2" name="Forma libre: Forma 51">
            <a:extLst>
              <a:ext uri="{FF2B5EF4-FFF2-40B4-BE49-F238E27FC236}">
                <a16:creationId xmlns:a16="http://schemas.microsoft.com/office/drawing/2014/main" id="{A5019358-4900-4555-99FF-EF6AE90B8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5670146" y="3710250"/>
            <a:ext cx="2131466" cy="1830903"/>
          </a:xfrm>
          <a:custGeom>
            <a:avLst/>
            <a:gdLst>
              <a:gd name="connsiteX0" fmla="*/ 2308583 w 2308583"/>
              <a:gd name="connsiteY0" fmla="*/ 1983044 h 1983044"/>
              <a:gd name="connsiteX1" fmla="*/ 462 w 2308583"/>
              <a:gd name="connsiteY1" fmla="*/ 1983044 h 1983044"/>
              <a:gd name="connsiteX2" fmla="*/ 0 w 2308583"/>
              <a:gd name="connsiteY2" fmla="*/ 1711185 h 1983044"/>
              <a:gd name="connsiteX3" fmla="*/ 2022607 w 2308583"/>
              <a:gd name="connsiteY3" fmla="*/ 1712117 h 1983044"/>
              <a:gd name="connsiteX4" fmla="*/ 2022607 w 2308583"/>
              <a:gd name="connsiteY4" fmla="*/ 0 h 1983044"/>
              <a:gd name="connsiteX5" fmla="*/ 2308583 w 2308583"/>
              <a:gd name="connsiteY5" fmla="*/ 0 h 1983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8583" h="1983044">
                <a:moveTo>
                  <a:pt x="2308583" y="1983044"/>
                </a:moveTo>
                <a:lnTo>
                  <a:pt x="462" y="1983044"/>
                </a:lnTo>
                <a:cubicBezTo>
                  <a:pt x="-462" y="1889214"/>
                  <a:pt x="923" y="1805015"/>
                  <a:pt x="0" y="1711185"/>
                </a:cubicBezTo>
                <a:lnTo>
                  <a:pt x="2022607" y="1712117"/>
                </a:lnTo>
                <a:lnTo>
                  <a:pt x="2022607" y="0"/>
                </a:lnTo>
                <a:lnTo>
                  <a:pt x="2308583" y="0"/>
                </a:lnTo>
                <a:close/>
              </a:path>
            </a:pathLst>
          </a:custGeom>
          <a:solidFill>
            <a:srgbClr val="FFFFFF">
              <a:alpha val="70000"/>
            </a:srgb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ES"/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1D5941F3-0256-4E90-BBBC-5A6EDEB8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38004" y="4166755"/>
            <a:ext cx="5607908" cy="2040066"/>
          </a:xfrm>
          <a:prstGeom prst="rect">
            <a:avLst/>
          </a:prstGeom>
          <a:solidFill>
            <a:srgbClr val="0000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1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347C47-EF1D-4B02-906B-219155AD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8010" y="4333009"/>
            <a:ext cx="5268177" cy="1086237"/>
          </a:xfrm>
        </p:spPr>
        <p:txBody>
          <a:bodyPr rtlCol="0">
            <a:normAutofit/>
          </a:bodyPr>
          <a:lstStyle/>
          <a:p>
            <a:pPr algn="l"/>
            <a:r>
              <a:rPr lang="es-ES" sz="3600" noProof="1">
                <a:solidFill>
                  <a:srgbClr val="FFFFFF"/>
                </a:solidFill>
              </a:rPr>
              <a:t>Automatización:</a:t>
            </a:r>
            <a:br>
              <a:rPr lang="es-ES" sz="3600" noProof="1">
                <a:solidFill>
                  <a:srgbClr val="FFFFFF"/>
                </a:solidFill>
              </a:rPr>
            </a:br>
            <a:r>
              <a:rPr lang="es-ES" sz="2800" noProof="1">
                <a:solidFill>
                  <a:srgbClr val="FFFFFF"/>
                </a:solidFill>
              </a:rPr>
              <a:t>Mysql – Python - excel</a:t>
            </a:r>
            <a:endParaRPr lang="es-ES" sz="3600" noProof="1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6A0527F-C5FD-4E9B-9F21-5D1FBA313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8010" y="5419246"/>
            <a:ext cx="5268177" cy="531866"/>
          </a:xfrm>
        </p:spPr>
        <p:txBody>
          <a:bodyPr rtlCol="0">
            <a:normAutofit fontScale="62500" lnSpcReduction="20000"/>
          </a:bodyPr>
          <a:lstStyle/>
          <a:p>
            <a:pPr algn="l" rtl="0">
              <a:spcAft>
                <a:spcPts val="600"/>
              </a:spcAft>
            </a:pPr>
            <a:endParaRPr lang="es-ES" sz="1800" noProof="1">
              <a:solidFill>
                <a:srgbClr val="FFFFFF"/>
              </a:solidFill>
            </a:endParaRPr>
          </a:p>
          <a:p>
            <a:pPr algn="l" rtl="0">
              <a:spcAft>
                <a:spcPts val="600"/>
              </a:spcAft>
            </a:pPr>
            <a:r>
              <a:rPr lang="es-ES" sz="2200" noProof="1">
                <a:solidFill>
                  <a:srgbClr val="FFFFFF"/>
                </a:solidFill>
              </a:rPr>
              <a:t>Grupo 1</a:t>
            </a:r>
          </a:p>
        </p:txBody>
      </p:sp>
    </p:spTree>
    <p:extLst>
      <p:ext uri="{BB962C8B-B14F-4D97-AF65-F5344CB8AC3E}">
        <p14:creationId xmlns:p14="http://schemas.microsoft.com/office/powerpoint/2010/main" val="745576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97E326-D1F4-4032-960C-883280F8F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rtlCol="0">
            <a:normAutofit/>
          </a:bodyPr>
          <a:lstStyle/>
          <a:p>
            <a:r>
              <a:rPr lang="es-ES" noProof="1"/>
              <a:t>1. Consultas en MySQL Workbench</a:t>
            </a:r>
          </a:p>
        </p:txBody>
      </p:sp>
      <p:graphicFrame>
        <p:nvGraphicFramePr>
          <p:cNvPr id="5" name="Marcador de contenido 2" descr="icono de marcador de posición del elemento gráfico SmartArt">
            <a:extLst>
              <a:ext uri="{FF2B5EF4-FFF2-40B4-BE49-F238E27FC236}">
                <a16:creationId xmlns:a16="http://schemas.microsoft.com/office/drawing/2014/main" id="{E04C5C5B-F932-40FC-AD54-EE8AB0C582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0523420"/>
              </p:ext>
            </p:extLst>
          </p:nvPr>
        </p:nvGraphicFramePr>
        <p:xfrm>
          <a:off x="1371600" y="2286000"/>
          <a:ext cx="9601200" cy="3581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2441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8A88C0-5145-AFAB-BC17-C30AD7CDD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Automatización con Python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60D7AB-7FE6-C34C-A624-717CA370A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41801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057B3-ADB5-D6D7-5E8F-35092727A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Relaciones con Power Pivot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840C62-55C6-8164-08F8-2F2D9D91D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47598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E7BDF1-8F72-6FDD-D4D8-BA5E5BCBE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Dashboard en Excel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BB347B-33CF-A3B4-963E-3773AA554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3521023"/>
      </p:ext>
    </p:extLst>
  </p:cSld>
  <p:clrMapOvr>
    <a:masterClrMapping/>
  </p:clrMapOvr>
</p:sld>
</file>

<file path=ppt/theme/theme1.xml><?xml version="1.0" encoding="utf-8"?>
<a:theme xmlns:a="http://schemas.openxmlformats.org/drawingml/2006/main" name="Recorte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972_TF34357615.potx" id="{C86973C6-2DA0-4089-9514-87FF768B367B}" vid="{9027C86C-E911-48B6-A8D3-7E2305217078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ECF6D8-9EA4-45A1-AFEB-B7C326AF08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D9A38F-9A2C-42E5-9013-4C4B1FFCB4F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8C45FB24-BEC6-4D44-888B-84AEBBA2DC0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Diseño Recorte</Template>
  <TotalTime>7</TotalTime>
  <Words>34</Words>
  <Application>Microsoft Office PowerPoint</Application>
  <PresentationFormat>Panorámica</PresentationFormat>
  <Paragraphs>9</Paragraphs>
  <Slides>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Calibri</vt:lpstr>
      <vt:lpstr>Franklin Gothic Book</vt:lpstr>
      <vt:lpstr>Recorte</vt:lpstr>
      <vt:lpstr>Automatización: Mysql – Python - excel</vt:lpstr>
      <vt:lpstr>1. Consultas en MySQL Workbench</vt:lpstr>
      <vt:lpstr>2. Automatización con Python</vt:lpstr>
      <vt:lpstr>3. Relaciones con Power Pivot</vt:lpstr>
      <vt:lpstr>4. Dashboard en Excel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Yasira Blanco</dc:creator>
  <cp:lastModifiedBy>Yasira Blanco</cp:lastModifiedBy>
  <cp:revision>1</cp:revision>
  <dcterms:created xsi:type="dcterms:W3CDTF">2026-05-12T11:59:51Z</dcterms:created>
  <dcterms:modified xsi:type="dcterms:W3CDTF">2026-05-12T12:07:18Z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