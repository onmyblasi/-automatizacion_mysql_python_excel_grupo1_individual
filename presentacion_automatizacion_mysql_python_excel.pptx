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6" r:id="rId5"/>
    <p:sldId id="257" r:id="rId6"/>
    <p:sldId id="267" r:id="rId7"/>
    <p:sldId id="268" r:id="rId8"/>
    <p:sldId id="269" r:id="rId9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8148F02-35C7-49E6-993F-E82908D7AF75}" type="datetime1">
              <a:rPr lang="es-ES" smtClean="0"/>
              <a:t>12/05/2026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4C531EA-3B14-40B9-94EF-FFD37E1084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3190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AAB062-198E-4F51-A2F6-E1757EE113E0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33D7A2-C585-48BF-BF8C-C21FDC051F7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1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es-ES" noProof="1" dirty="0" smtClean="0"/>
              <a:t>1</a:t>
            </a:fld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4013332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1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es-ES" noProof="1" dirty="0" smtClean="0"/>
              <a:t>2</a:t>
            </a:fld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193924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1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498F6463-E3E5-495A-9247-FB13D216B2BB}" type="datetime1">
              <a:rPr lang="es-ES" noProof="1" smtClean="0"/>
              <a:t>12/05/2026</a:t>
            </a:fld>
            <a:endParaRPr lang="es-ES" noProof="1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es-ES" noProof="1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1" dirty="0" smtClean="0"/>
              <a:pPr rtl="0"/>
              <a:t>‹Nº›</a:t>
            </a:fld>
            <a:endParaRPr lang="es-ES" noProof="1"/>
          </a:p>
        </p:txBody>
      </p:sp>
      <p:grpSp>
        <p:nvGrpSpPr>
          <p:cNvPr id="7" name="Grupo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orma libre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orma libre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E64886-2519-4079-84AC-2CC2F797F4E0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33F794C-6882-41AC-82BF-60BB9E6F3BCD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Forma libre 6" title="Marca de recorte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585378-E0B5-4F68-82D2-43529871C830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BEEF58-48C9-467B-A631-1E436BEDAB11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60F666-88B8-4DF3-9956-D08FAF884D2A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1315F2-01CA-4762-8977-05CA9889EEFD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 title="Forma de fo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8C31800-ABDF-4500-B590-0F98C33628D8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 title="Barra de división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 title="Forma de fo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0C785D8-623B-4B06-B6D3-7A2D6A2C5207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 title="Barra de división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9C1930-778F-4458-8924-EEC59DD2356C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C51A39-469D-45D6-9466-8F867D5AA5F3}" type="datetime1">
              <a:rPr lang="es-ES" noProof="0" smtClean="0"/>
              <a:t>12/05/2026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1"/>
              <a:t>Haga clic para modificar los estilos de texto del patrón</a:t>
            </a:r>
          </a:p>
          <a:p>
            <a:pPr lvl="1" rtl="0"/>
            <a:r>
              <a:rPr lang="es-ES" noProof="1"/>
              <a:t>Segundo nivel</a:t>
            </a:r>
          </a:p>
          <a:p>
            <a:pPr lvl="2" rtl="0"/>
            <a:r>
              <a:rPr lang="es-ES" noProof="1"/>
              <a:t>Tercer nivel</a:t>
            </a:r>
          </a:p>
          <a:p>
            <a:pPr lvl="3" rtl="0"/>
            <a:r>
              <a:rPr lang="es-ES" noProof="1"/>
              <a:t>Cuarto nivel</a:t>
            </a:r>
          </a:p>
          <a:p>
            <a:pPr lvl="4" rtl="0"/>
            <a:r>
              <a:rPr lang="es-ES" noProof="1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32753D48-8572-4784-98D4-3FA29A2341E7}" type="datetime1">
              <a:rPr lang="es-ES" noProof="1" smtClean="0"/>
              <a:t>12/05/2026</a:t>
            </a:fld>
            <a:endParaRPr lang="es-ES" noProof="1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es-ES" noProof="1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1" dirty="0" smtClean="0"/>
              <a:pPr rtl="0"/>
              <a:t>‹Nº›</a:t>
            </a:fld>
            <a:endParaRPr lang="es-ES" noProof="1"/>
          </a:p>
        </p:txBody>
      </p:sp>
      <p:sp>
        <p:nvSpPr>
          <p:cNvPr id="9" name="Rectángulo 8" title="Barra lateral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1"/>
          </a:p>
        </p:txBody>
      </p:sp>
      <p:pic>
        <p:nvPicPr>
          <p:cNvPr id="23" name="Imagen 22" descr="Primer plano muy cercano de un gráfico de líneas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 rtlCol="0">
            <a:normAutofit/>
          </a:bodyPr>
          <a:lstStyle/>
          <a:p>
            <a:pPr algn="l"/>
            <a:r>
              <a:rPr lang="es-ES" sz="3600" noProof="1">
                <a:solidFill>
                  <a:srgbClr val="FFFFFF"/>
                </a:solidFill>
              </a:rPr>
              <a:t>Automatización:</a:t>
            </a:r>
            <a:br>
              <a:rPr lang="es-ES" sz="3600" noProof="1">
                <a:solidFill>
                  <a:srgbClr val="FFFFFF"/>
                </a:solidFill>
              </a:rPr>
            </a:br>
            <a:r>
              <a:rPr lang="es-ES" sz="2800" noProof="1">
                <a:solidFill>
                  <a:srgbClr val="FFFFFF"/>
                </a:solidFill>
              </a:rPr>
              <a:t>Mysql – Python - excel</a:t>
            </a:r>
            <a:endParaRPr lang="es-ES" sz="3600" noProof="1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 rtlCol="0">
            <a:normAutofit fontScale="62500" lnSpcReduction="20000"/>
          </a:bodyPr>
          <a:lstStyle/>
          <a:p>
            <a:pPr algn="l" rtl="0">
              <a:spcAft>
                <a:spcPts val="600"/>
              </a:spcAft>
            </a:pPr>
            <a:endParaRPr lang="es-ES" sz="1800" noProof="1">
              <a:solidFill>
                <a:srgbClr val="FFFFFF"/>
              </a:solidFill>
            </a:endParaRPr>
          </a:p>
          <a:p>
            <a:pPr algn="l" rtl="0">
              <a:spcAft>
                <a:spcPts val="600"/>
              </a:spcAft>
            </a:pPr>
            <a:r>
              <a:rPr lang="es-ES" sz="2200" noProof="1">
                <a:solidFill>
                  <a:srgbClr val="FFFFFF"/>
                </a:solidFill>
              </a:rPr>
              <a:t>Grupo 1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BgImage">
            <a:extLst>
              <a:ext uri="{FF2B5EF4-FFF2-40B4-BE49-F238E27FC236}">
                <a16:creationId xmlns:a16="http://schemas.microsoft.com/office/drawing/2014/main" id="{A1B2C3D4-1111-2222-3333-444455556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DarkOverlay">
            <a:extLst>
              <a:ext uri="{FF2B5EF4-FFF2-40B4-BE49-F238E27FC236}">
                <a16:creationId xmlns:a16="http://schemas.microsoft.com/office/drawing/2014/main" id="{A1B2C3D4-1111-2222-3333-4444555566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3000"/>
            </a:srgbClr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rtlCol="0">
            <a:normAutofit/>
          </a:bodyPr>
          <a:lstStyle/>
          <a:p>
            <a:pPr algn="l"/>
            <a:r>
              <a:rPr lang="es-ES" sz="3600" b="1" noProof="1">
                <a:solidFill>
                  <a:srgbClr val="FFFFFF"/>
                </a:solidFill>
              </a:rPr>
              <a:t>1. Consultas en MySQL Workbench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9B9B57-7DEE-25C8-25C2-00B9E9F19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Realizamos las consultas sobre las tablas que vamos a usar en el dashboard y guardamos el Script con formato .sql .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7101F87-08E5-370A-F85C-F3E44D1EB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102" y="3159385"/>
            <a:ext cx="462979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BgImage">
            <a:extLst>
              <a:ext uri="{FF2B5EF4-FFF2-40B4-BE49-F238E27FC236}">
                <a16:creationId xmlns:a16="http://schemas.microsoft.com/office/drawing/2014/main" id="{B1C2D3E4-1111-2222-3333-4444555566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DarkOverlay">
            <a:extLst>
              <a:ext uri="{FF2B5EF4-FFF2-40B4-BE49-F238E27FC236}">
                <a16:creationId xmlns:a16="http://schemas.microsoft.com/office/drawing/2014/main" id="{B1C2D3E4-1111-2222-3333-4444555566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3000"/>
            </a:srgbClr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8A88C0-5145-AFAB-BC17-C30AD7CDD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rtlCol="0">
            <a:normAutofit/>
          </a:bodyPr>
          <a:lstStyle/>
          <a:p>
            <a:pPr algn="l"/>
            <a:r>
              <a:rPr lang="es-ES" sz="3600" b="1" noProof="1">
                <a:solidFill>
                  <a:srgbClr val="FFFFFF"/>
                </a:solidFill>
              </a:rPr>
              <a:t>2. Automatización con Python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60D7AB-7FE6-C34C-A624-717CA370A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00600"/>
          </a:xfrm>
        </p:spPr>
        <p:txBody>
          <a:bodyPr rtlCol="0">
            <a:normAutofit/>
          </a:bodyPr>
          <a:lstStyle/>
          <a:p>
            <a:endParaRPr 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80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BgImage">
            <a:extLst>
              <a:ext uri="{FF2B5EF4-FFF2-40B4-BE49-F238E27FC236}">
                <a16:creationId xmlns:a16="http://schemas.microsoft.com/office/drawing/2014/main" id="{C1D2E3F4-1111-2222-3333-4444555566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DarkOverlay">
            <a:extLst>
              <a:ext uri="{FF2B5EF4-FFF2-40B4-BE49-F238E27FC236}">
                <a16:creationId xmlns:a16="http://schemas.microsoft.com/office/drawing/2014/main" id="{C1D2E3F4-1111-2222-3333-4444555566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3000"/>
            </a:srgbClr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8057B3-ADB5-D6D7-5E8F-35092727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rtlCol="0">
            <a:normAutofit/>
          </a:bodyPr>
          <a:lstStyle/>
          <a:p>
            <a:pPr algn="l"/>
            <a:r>
              <a:rPr lang="es-ES" sz="3600" b="1" noProof="1">
                <a:solidFill>
                  <a:srgbClr val="FFFFFF"/>
                </a:solidFill>
              </a:rPr>
              <a:t>3. Relaciones con Power Pivot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840C62-55C6-8164-08F8-2F2D9D91D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00600"/>
          </a:xfrm>
        </p:spPr>
        <p:txBody>
          <a:bodyPr rtlCol="0">
            <a:normAutofit/>
          </a:bodyPr>
          <a:lstStyle/>
          <a:p>
            <a:endParaRPr 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59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BgImage">
            <a:extLst>
              <a:ext uri="{FF2B5EF4-FFF2-40B4-BE49-F238E27FC236}">
                <a16:creationId xmlns:a16="http://schemas.microsoft.com/office/drawing/2014/main" id="{D1E2F3A4-1111-2222-3333-4444555566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DarkOverlay">
            <a:extLst>
              <a:ext uri="{FF2B5EF4-FFF2-40B4-BE49-F238E27FC236}">
                <a16:creationId xmlns:a16="http://schemas.microsoft.com/office/drawing/2014/main" id="{D1E2F3A4-1111-2222-3333-4444555566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3000"/>
            </a:srgbClr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E7BDF1-8F72-6FDD-D4D8-BA5E5BCBE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rtlCol="0">
            <a:normAutofit/>
          </a:bodyPr>
          <a:lstStyle/>
          <a:p>
            <a:pPr algn="l"/>
            <a:r>
              <a:rPr lang="es-ES" sz="3600" b="1" noProof="1">
                <a:solidFill>
                  <a:srgbClr val="FFFFFF"/>
                </a:solidFill>
              </a:rPr>
              <a:t>4. Dashboard en Excel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B347B-33CF-A3B4-963E-3773AA554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00600"/>
          </a:xfrm>
        </p:spPr>
        <p:txBody>
          <a:bodyPr rtlCol="0">
            <a:normAutofit/>
          </a:bodyPr>
          <a:lstStyle/>
          <a:p>
            <a:endParaRPr 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521023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972_TF34357615.potx" id="{C86973C6-2DA0-4089-9514-87FF768B367B}" vid="{9027C86C-E911-48B6-A8D3-7E230521707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Recorte</Template>
  <TotalTime>28</TotalTime>
  <Words>56</Words>
  <Application>Microsoft Office PowerPoint</Application>
  <PresentationFormat>Panorámica</PresentationFormat>
  <Paragraphs>10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Calibri</vt:lpstr>
      <vt:lpstr>Franklin Gothic Book</vt:lpstr>
      <vt:lpstr>Recorte</vt:lpstr>
      <vt:lpstr>Automatización: Mysql – Python - excel</vt:lpstr>
      <vt:lpstr>1. Consultas en MySQL Workbench</vt:lpstr>
      <vt:lpstr>2. Automatización con Python</vt:lpstr>
      <vt:lpstr>3. Relaciones con Power Pivot</vt:lpstr>
      <vt:lpstr>4. Dashboard en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Yasira Blanco</dc:creator>
  <cp:lastModifiedBy>Yasira Blanco</cp:lastModifiedBy>
  <cp:revision>4</cp:revision>
  <dcterms:created xsi:type="dcterms:W3CDTF">2026-05-12T11:59:51Z</dcterms:created>
  <dcterms:modified xsi:type="dcterms:W3CDTF">2026-05-12T12:31:21Z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